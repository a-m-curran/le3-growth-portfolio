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837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2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16897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LE3 Growth Portfolio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student growth becomes a compelling, evidence-based narrative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304288" y="29718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44568" y="29718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784848" y="29718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025128" y="29718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1828800"/>
            <a:ext cx="1920240" cy="256032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320040" cy="3200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1920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041113"/>
            <a:ext cx="457200" cy="4572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57200" y="2589753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Assignments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Come In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02920" y="3239814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D2L import or manual upload.</a:t>
            </a:r>
            <a:endParaRPr lang="en-US" sz="800" dirty="0">
              <a:solidFill>
                <a:schemeClr val="bg2"/>
              </a:solidFill>
            </a:endParaRPr>
          </a:p>
          <a:p>
            <a:pPr marL="0" indent="0" algn="ctr">
              <a:lnSpc>
                <a:spcPct val="140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assignment is auto-tagged</a:t>
            </a:r>
            <a:endParaRPr lang="en-US" sz="800" dirty="0">
              <a:solidFill>
                <a:schemeClr val="bg2"/>
              </a:solidFill>
            </a:endParaRPr>
          </a:p>
          <a:p>
            <a:pPr marL="0" indent="0" algn="ctr">
              <a:lnSpc>
                <a:spcPct val="140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1-3 durable skills by AI.</a:t>
            </a:r>
            <a:endParaRPr lang="en-US" sz="800" dirty="0">
              <a:solidFill>
                <a:schemeClr val="bg2"/>
              </a:solidFill>
            </a:endParaRPr>
          </a:p>
          <a:p>
            <a:pPr marL="0" indent="0" algn="ctr">
              <a:lnSpc>
                <a:spcPct val="140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with less coverage</a:t>
            </a:r>
            <a:endParaRPr lang="en-US" sz="800" dirty="0">
              <a:solidFill>
                <a:schemeClr val="bg2"/>
              </a:solidFill>
            </a:endParaRPr>
          </a:p>
          <a:p>
            <a:pPr marL="0" indent="0" algn="ctr">
              <a:lnSpc>
                <a:spcPct val="140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priority.</a:t>
            </a:r>
            <a:endParaRPr lang="en-US" sz="800" dirty="0">
              <a:solidFill>
                <a:schemeClr val="bg2"/>
              </a:solidFill>
            </a:endParaRPr>
          </a:p>
        </p:txBody>
      </p:sp>
      <p:sp>
        <p:nvSpPr>
          <p:cNvPr id="14" name="Shape 11"/>
          <p:cNvSpPr/>
          <p:nvPr/>
        </p:nvSpPr>
        <p:spPr>
          <a:xfrm>
            <a:off x="2606040" y="1828800"/>
            <a:ext cx="1920240" cy="256032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2697480" y="1920240"/>
            <a:ext cx="320040" cy="3200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2697480" y="1920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2041113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2697480" y="2589753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Reflective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Conversations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2743200" y="3212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3-phase excavation loop:</a:t>
            </a:r>
            <a:endParaRPr lang="en-US" sz="800" dirty="0">
              <a:solidFill>
                <a:schemeClr val="bg2"/>
              </a:solidFill>
            </a:endParaRP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</a:t>
            </a:r>
            <a:endParaRPr lang="en-US" sz="800" dirty="0">
              <a:solidFill>
                <a:schemeClr val="bg2"/>
              </a:solidFill>
            </a:endParaRP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Did</a:t>
            </a:r>
            <a:endParaRPr lang="en-US" sz="800" dirty="0">
              <a:solidFill>
                <a:schemeClr val="bg2"/>
              </a:solidFill>
            </a:endParaRP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Means</a:t>
            </a:r>
            <a:endParaRPr lang="en-US" sz="800" dirty="0">
              <a:solidFill>
                <a:schemeClr val="bg2"/>
              </a:solidFill>
            </a:endParaRPr>
          </a:p>
        </p:txBody>
      </p:sp>
      <p:sp>
        <p:nvSpPr>
          <p:cNvPr id="20" name="Shape 16"/>
          <p:cNvSpPr/>
          <p:nvPr/>
        </p:nvSpPr>
        <p:spPr>
          <a:xfrm>
            <a:off x="4846320" y="1828800"/>
            <a:ext cx="1920240" cy="2560320"/>
          </a:xfrm>
          <a:prstGeom prst="rect">
            <a:avLst/>
          </a:prstGeom>
          <a:solidFill>
            <a:srgbClr val="1E293B"/>
          </a:solidFill>
          <a:ln w="19050">
            <a:solidFill>
              <a:srgbClr val="EC4899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4937760" y="1920240"/>
            <a:ext cx="320040" cy="320040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4937760" y="1920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840" y="2041113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4937760" y="2589753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Structured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Analysis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4983480" y="3239814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conversation produces:</a:t>
            </a:r>
            <a:endParaRPr lang="en-US" sz="800" dirty="0">
              <a:solidFill>
                <a:schemeClr val="bg2"/>
              </a:solidFill>
            </a:endParaRP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Synthesis (student-facing)</a:t>
            </a:r>
            <a:endParaRPr lang="en-US" sz="800" dirty="0">
              <a:solidFill>
                <a:schemeClr val="bg2"/>
              </a:solidFill>
            </a:endParaRP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SDT level signals</a:t>
            </a:r>
            <a:endParaRPr lang="en-US" sz="800" dirty="0">
              <a:solidFill>
                <a:schemeClr val="bg2"/>
              </a:solidFill>
            </a:endParaRP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Behavioral indicators</a:t>
            </a:r>
            <a:endParaRPr lang="en-US" sz="800" dirty="0">
              <a:solidFill>
                <a:schemeClr val="bg2"/>
              </a:solidFill>
            </a:endParaRP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 quotes &amp; moments</a:t>
            </a:r>
            <a:endParaRPr lang="en-US" sz="800" dirty="0">
              <a:solidFill>
                <a:schemeClr val="bg2"/>
              </a:solidFill>
            </a:endParaRP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Student Voice &amp; Tone</a:t>
            </a:r>
            <a:endParaRPr lang="en-US" sz="800" dirty="0">
              <a:solidFill>
                <a:schemeClr val="bg2"/>
              </a:solidFill>
            </a:endParaRP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Growth trajectory</a:t>
            </a:r>
            <a:endParaRPr lang="en-US" sz="800" dirty="0">
              <a:solidFill>
                <a:schemeClr val="bg2"/>
              </a:solidFill>
            </a:endParaRPr>
          </a:p>
        </p:txBody>
      </p:sp>
      <p:sp>
        <p:nvSpPr>
          <p:cNvPr id="26" name="Shape 21"/>
          <p:cNvSpPr/>
          <p:nvPr/>
        </p:nvSpPr>
        <p:spPr>
          <a:xfrm>
            <a:off x="7086600" y="1828800"/>
            <a:ext cx="1920240" cy="2560320"/>
          </a:xfrm>
          <a:prstGeom prst="rect">
            <a:avLst/>
          </a:prstGeom>
          <a:solidFill>
            <a:srgbClr val="1E293B"/>
          </a:solidFill>
          <a:ln w="19050">
            <a:solidFill>
              <a:srgbClr val="8B5CF6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2"/>
          <p:cNvSpPr/>
          <p:nvPr/>
        </p:nvSpPr>
        <p:spPr>
          <a:xfrm>
            <a:off x="7178040" y="1920240"/>
            <a:ext cx="320040" cy="320040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3"/>
          <p:cNvSpPr/>
          <p:nvPr/>
        </p:nvSpPr>
        <p:spPr>
          <a:xfrm>
            <a:off x="7178040" y="1920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2041113"/>
            <a:ext cx="457200" cy="45720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178040" y="2589753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Narratives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7223760" y="3239814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per-student narratives.</a:t>
            </a:r>
            <a:endParaRPr lang="en-US" sz="800" dirty="0">
              <a:solidFill>
                <a:schemeClr val="bg2"/>
              </a:solidFill>
            </a:endParaRP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conversations,</a:t>
            </a:r>
            <a:endParaRPr lang="en-US" sz="800" dirty="0">
              <a:solidFill>
                <a:schemeClr val="bg2"/>
              </a:solidFill>
            </a:endParaRP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definitions, C2A analysis,</a:t>
            </a:r>
            <a:endParaRPr lang="en-US" sz="800" dirty="0">
              <a:solidFill>
                <a:schemeClr val="bg2"/>
              </a:solidFill>
            </a:endParaRP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voice fingerprints.</a:t>
            </a:r>
            <a:endParaRPr lang="en-US" sz="800" dirty="0">
              <a:solidFill>
                <a:schemeClr val="bg2"/>
              </a:solidFill>
            </a:endParaRPr>
          </a:p>
        </p:txBody>
      </p:sp>
      <p:sp>
        <p:nvSpPr>
          <p:cNvPr id="32" name="Shape 26"/>
          <p:cNvSpPr/>
          <p:nvPr/>
        </p:nvSpPr>
        <p:spPr>
          <a:xfrm>
            <a:off x="9326880" y="1828800"/>
            <a:ext cx="1920240" cy="256032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9418320" y="1920240"/>
            <a:ext cx="320040" cy="3200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28"/>
          <p:cNvSpPr/>
          <p:nvPr/>
        </p:nvSpPr>
        <p:spPr>
          <a:xfrm>
            <a:off x="9418320" y="1920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2041113"/>
            <a:ext cx="457200" cy="457200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9418320" y="2589753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Career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Output</a:t>
            </a:r>
            <a:endParaRPr lang="en-US" sz="1300" dirty="0"/>
          </a:p>
        </p:txBody>
      </p:sp>
      <p:sp>
        <p:nvSpPr>
          <p:cNvPr id="37" name="Text 30"/>
          <p:cNvSpPr/>
          <p:nvPr/>
        </p:nvSpPr>
        <p:spPr>
          <a:xfrm>
            <a:off x="9464040" y="3239814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narratives synthesized</a:t>
            </a:r>
            <a:endParaRPr lang="en-US" sz="800" dirty="0">
              <a:solidFill>
                <a:schemeClr val="bg2"/>
              </a:solidFill>
            </a:endParaRP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actionable language:</a:t>
            </a:r>
            <a:endParaRPr lang="en-US" sz="800" dirty="0">
              <a:solidFill>
                <a:schemeClr val="bg2"/>
              </a:solidFill>
            </a:endParaRPr>
          </a:p>
          <a:p>
            <a:pPr marL="0" indent="0" algn="ctr">
              <a:lnSpc>
                <a:spcPct val="135000"/>
              </a:lnSpc>
              <a:buNone/>
            </a:pPr>
            <a:endParaRPr lang="en-US" sz="800" dirty="0">
              <a:solidFill>
                <a:schemeClr val="bg2"/>
              </a:solidFill>
            </a:endParaRP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Professional summary</a:t>
            </a:r>
            <a:endParaRPr lang="en-US" sz="800" dirty="0">
              <a:solidFill>
                <a:schemeClr val="bg2"/>
              </a:solidFill>
            </a:endParaRP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Resume skill descriptions</a:t>
            </a:r>
            <a:endParaRPr lang="en-US" sz="800" dirty="0">
              <a:solidFill>
                <a:schemeClr val="bg2"/>
              </a:solidFill>
            </a:endParaRP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Interview talking points</a:t>
            </a:r>
            <a:endParaRPr lang="en-US" sz="800" dirty="0">
              <a:solidFill>
                <a:schemeClr val="bg2"/>
              </a:solidFill>
            </a:endParaRPr>
          </a:p>
        </p:txBody>
      </p:sp>
      <p:sp>
        <p:nvSpPr>
          <p:cNvPr id="38" name="Shape 31"/>
          <p:cNvSpPr/>
          <p:nvPr/>
        </p:nvSpPr>
        <p:spPr>
          <a:xfrm>
            <a:off x="320040" y="1005840"/>
            <a:ext cx="2011680" cy="548640"/>
          </a:xfrm>
          <a:prstGeom prst="rect">
            <a:avLst/>
          </a:prstGeom>
          <a:solidFill>
            <a:srgbClr val="172554"/>
          </a:solidFill>
          <a:ln w="12700">
            <a:solidFill>
              <a:srgbClr val="3B82F6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1097280"/>
            <a:ext cx="274320" cy="274320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77240" y="105156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D2L Brightspace</a:t>
            </a:r>
            <a:endParaRPr lang="en-US" sz="900" dirty="0"/>
          </a:p>
        </p:txBody>
      </p:sp>
      <p:sp>
        <p:nvSpPr>
          <p:cNvPr id="41" name="Text 33"/>
          <p:cNvSpPr/>
          <p:nvPr/>
        </p:nvSpPr>
        <p:spPr>
          <a:xfrm>
            <a:off x="777240" y="123444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stub + CSV import</a:t>
            </a:r>
            <a:endParaRPr lang="en-US" sz="700" dirty="0"/>
          </a:p>
        </p:txBody>
      </p:sp>
      <p:sp>
        <p:nvSpPr>
          <p:cNvPr id="42" name="Text 34"/>
          <p:cNvSpPr/>
          <p:nvPr/>
        </p:nvSpPr>
        <p:spPr>
          <a:xfrm>
            <a:off x="1188720" y="1554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B82F6"/>
                </a:solidFill>
              </a:rPr>
              <a:t>↓</a:t>
            </a:r>
            <a:endParaRPr lang="en-US" sz="1600" dirty="0"/>
          </a:p>
        </p:txBody>
      </p:sp>
      <p:sp>
        <p:nvSpPr>
          <p:cNvPr id="43" name="Shape 35"/>
          <p:cNvSpPr/>
          <p:nvPr/>
        </p:nvSpPr>
        <p:spPr>
          <a:xfrm>
            <a:off x="2560320" y="1005840"/>
            <a:ext cx="2011680" cy="548640"/>
          </a:xfrm>
          <a:prstGeom prst="rect">
            <a:avLst/>
          </a:prstGeom>
          <a:solidFill>
            <a:srgbClr val="172554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97480" y="1097280"/>
            <a:ext cx="228600" cy="228600"/>
          </a:xfrm>
          <a:prstGeom prst="rect">
            <a:avLst/>
          </a:prstGeom>
        </p:spPr>
      </p:pic>
      <p:pic>
        <p:nvPicPr>
          <p:cNvPr id="45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71800" y="1097280"/>
            <a:ext cx="228600" cy="228600"/>
          </a:xfrm>
          <a:prstGeom prst="rect">
            <a:avLst/>
          </a:prstGeom>
        </p:spPr>
      </p:pic>
      <p:sp>
        <p:nvSpPr>
          <p:cNvPr id="46" name="Text 36"/>
          <p:cNvSpPr/>
          <p:nvPr/>
        </p:nvSpPr>
        <p:spPr>
          <a:xfrm>
            <a:off x="3246120" y="105156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&amp; Coaches</a:t>
            </a:r>
            <a:endParaRPr lang="en-US" sz="900" dirty="0"/>
          </a:p>
        </p:txBody>
      </p:sp>
      <p:sp>
        <p:nvSpPr>
          <p:cNvPr id="47" name="Text 37"/>
          <p:cNvSpPr/>
          <p:nvPr/>
        </p:nvSpPr>
        <p:spPr>
          <a:xfrm>
            <a:off x="3246120" y="12344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• Onboarding • Roles</a:t>
            </a:r>
            <a:endParaRPr lang="en-US" sz="700" dirty="0"/>
          </a:p>
        </p:txBody>
      </p:sp>
      <p:sp>
        <p:nvSpPr>
          <p:cNvPr id="48" name="Text 38"/>
          <p:cNvSpPr/>
          <p:nvPr/>
        </p:nvSpPr>
        <p:spPr>
          <a:xfrm>
            <a:off x="3429000" y="1554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78BFA"/>
                </a:solidFill>
              </a:rPr>
              <a:t>↓</a:t>
            </a:r>
            <a:endParaRPr lang="en-US" sz="1600" dirty="0"/>
          </a:p>
        </p:txBody>
      </p:sp>
      <p:sp>
        <p:nvSpPr>
          <p:cNvPr id="49" name="Shape 39"/>
          <p:cNvSpPr/>
          <p:nvPr/>
        </p:nvSpPr>
        <p:spPr>
          <a:xfrm>
            <a:off x="5029200" y="4709160"/>
            <a:ext cx="3794760" cy="640080"/>
          </a:xfrm>
          <a:prstGeom prst="rect">
            <a:avLst/>
          </a:prstGeom>
          <a:solidFill>
            <a:srgbClr val="172554"/>
          </a:solidFill>
          <a:ln w="12700">
            <a:solidFill>
              <a:srgbClr val="EC4899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66360" y="4828032"/>
            <a:ext cx="274320" cy="274320"/>
          </a:xfrm>
          <a:prstGeom prst="rect">
            <a:avLst/>
          </a:prstGeom>
        </p:spPr>
      </p:pic>
      <p:sp>
        <p:nvSpPr>
          <p:cNvPr id="51" name="Text 40"/>
          <p:cNvSpPr/>
          <p:nvPr/>
        </p:nvSpPr>
        <p:spPr>
          <a:xfrm>
            <a:off x="5486400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9A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C2A — Cognition to Action</a:t>
            </a:r>
            <a:endParaRPr lang="en-US" sz="1000" dirty="0"/>
          </a:p>
        </p:txBody>
      </p:sp>
      <p:sp>
        <p:nvSpPr>
          <p:cNvPr id="52" name="Text 41"/>
          <p:cNvSpPr/>
          <p:nvPr/>
        </p:nvSpPr>
        <p:spPr>
          <a:xfrm>
            <a:off x="5486400" y="4983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SDT analysis (external tool) — consumes structured output, feeds back into narratives</a:t>
            </a:r>
            <a:endParaRPr lang="en-US" sz="750" dirty="0"/>
          </a:p>
        </p:txBody>
      </p:sp>
      <p:sp>
        <p:nvSpPr>
          <p:cNvPr id="53" name="Text 42"/>
          <p:cNvSpPr/>
          <p:nvPr/>
        </p:nvSpPr>
        <p:spPr>
          <a:xfrm>
            <a:off x="5669280" y="44138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C4899"/>
                </a:solidFill>
              </a:rPr>
              <a:t>↓</a:t>
            </a:r>
            <a:endParaRPr lang="en-US" sz="1400" dirty="0"/>
          </a:p>
        </p:txBody>
      </p:sp>
      <p:sp>
        <p:nvSpPr>
          <p:cNvPr id="54" name="Text 43"/>
          <p:cNvSpPr/>
          <p:nvPr/>
        </p:nvSpPr>
        <p:spPr>
          <a:xfrm>
            <a:off x="7909560" y="44138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B5CF6"/>
                </a:solidFill>
              </a:rPr>
              <a:t>↑</a:t>
            </a:r>
            <a:endParaRPr lang="en-US" sz="1400" dirty="0"/>
          </a:p>
        </p:txBody>
      </p:sp>
      <p:sp>
        <p:nvSpPr>
          <p:cNvPr id="55" name="Shape 44"/>
          <p:cNvSpPr/>
          <p:nvPr/>
        </p:nvSpPr>
        <p:spPr>
          <a:xfrm>
            <a:off x="548640" y="4709160"/>
            <a:ext cx="3794760" cy="640080"/>
          </a:xfrm>
          <a:prstGeom prst="rect">
            <a:avLst/>
          </a:prstGeom>
          <a:solidFill>
            <a:srgbClr val="172554"/>
          </a:solidFill>
          <a:ln w="12700">
            <a:solidFill>
              <a:srgbClr val="22C55E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6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5800" y="4828032"/>
            <a:ext cx="274320" cy="274320"/>
          </a:xfrm>
          <a:prstGeom prst="rect">
            <a:avLst/>
          </a:prstGeom>
        </p:spPr>
      </p:pic>
      <p:sp>
        <p:nvSpPr>
          <p:cNvPr id="57" name="Text 45"/>
          <p:cNvSpPr/>
          <p:nvPr/>
        </p:nvSpPr>
        <p:spPr>
          <a:xfrm>
            <a:off x="1005840" y="47548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Garden</a:t>
            </a:r>
            <a:endParaRPr lang="en-US" sz="1000" dirty="0"/>
          </a:p>
        </p:txBody>
      </p:sp>
      <p:sp>
        <p:nvSpPr>
          <p:cNvPr id="58" name="Text 46"/>
          <p:cNvSpPr/>
          <p:nvPr/>
        </p:nvSpPr>
        <p:spPr>
          <a:xfrm>
            <a:off x="1005840" y="4983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portfolio — 4 pillars, 12 skills, 5-level SDT progression, definition journeys</a:t>
            </a:r>
            <a:endParaRPr lang="en-US" sz="750" dirty="0"/>
          </a:p>
        </p:txBody>
      </p:sp>
      <p:sp>
        <p:nvSpPr>
          <p:cNvPr id="59" name="Shape 47"/>
          <p:cNvSpPr/>
          <p:nvPr/>
        </p:nvSpPr>
        <p:spPr>
          <a:xfrm>
            <a:off x="7269480" y="1005840"/>
            <a:ext cx="3977640" cy="548640"/>
          </a:xfrm>
          <a:prstGeom prst="rect">
            <a:avLst/>
          </a:prstGeom>
          <a:solidFill>
            <a:srgbClr val="172554"/>
          </a:solidFill>
          <a:ln w="127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0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06640" y="1097280"/>
            <a:ext cx="228600" cy="228600"/>
          </a:xfrm>
          <a:prstGeom prst="rect">
            <a:avLst/>
          </a:prstGeom>
        </p:spPr>
      </p:pic>
      <p:sp>
        <p:nvSpPr>
          <p:cNvPr id="61" name="Text 48"/>
          <p:cNvSpPr/>
          <p:nvPr/>
        </p:nvSpPr>
        <p:spPr>
          <a:xfrm>
            <a:off x="7680960" y="1051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5-Level SDT Framework</a:t>
            </a:r>
            <a:endParaRPr lang="en-US" sz="900" dirty="0"/>
          </a:p>
        </p:txBody>
      </p:sp>
      <p:sp>
        <p:nvSpPr>
          <p:cNvPr id="62" name="Text 49"/>
          <p:cNvSpPr/>
          <p:nvPr/>
        </p:nvSpPr>
        <p:spPr>
          <a:xfrm>
            <a:off x="7680960" y="123444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→ Introjected → Identified → Integrated → Intrinsic</a:t>
            </a:r>
            <a:endParaRPr lang="en-US" sz="700" dirty="0"/>
          </a:p>
        </p:txBody>
      </p:sp>
      <p:sp>
        <p:nvSpPr>
          <p:cNvPr id="63" name="Text 50"/>
          <p:cNvSpPr/>
          <p:nvPr/>
        </p:nvSpPr>
        <p:spPr>
          <a:xfrm>
            <a:off x="457200" y="5832191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enriches the next. Conversations produce structured data. C2A quantifies it. Narratives humanize it. Career output operationalizes it.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64" name="Text 42">
            <a:extLst>
              <a:ext uri="{FF2B5EF4-FFF2-40B4-BE49-F238E27FC236}">
                <a16:creationId xmlns:a16="http://schemas.microsoft.com/office/drawing/2014/main" id="{910C1E54-53A5-8584-F884-E7C0218E15A1}"/>
              </a:ext>
            </a:extLst>
          </p:cNvPr>
          <p:cNvSpPr/>
          <p:nvPr/>
        </p:nvSpPr>
        <p:spPr>
          <a:xfrm>
            <a:off x="3414813" y="4408567"/>
            <a:ext cx="2743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050"/>
                </a:solidFill>
              </a:rPr>
              <a:t>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954</TotalTime>
  <Words>228</Words>
  <Application>Microsoft Macintosh PowerPoint</Application>
  <PresentationFormat>Widescreen</PresentationFormat>
  <Paragraphs>64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Georgia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LE3 Growth Portfolio — Platform Flow</dc:title>
  <dc:subject>PptxGenJS Presentation</dc:subject>
  <dc:creator>LE3 Growth Portfolio</dc:creator>
  <cp:lastModifiedBy>Andrew Curran</cp:lastModifiedBy>
  <cp:revision>2</cp:revision>
  <dcterms:created xsi:type="dcterms:W3CDTF">2026-04-07T03:06:29Z</dcterms:created>
  <dcterms:modified xsi:type="dcterms:W3CDTF">2026-04-07T19:06:35Z</dcterms:modified>
</cp:coreProperties>
</file>